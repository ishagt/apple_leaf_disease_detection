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3F1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D3F1E"/>
                </a:solidFill>
                <a:latin typeface="Arial"/>
              </a:rPr>
              <a:t>Train / Validation Split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Training</c:v>
                  </c:pt>
                  <c:pt idx="1">
                    <c:v>Validation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658</c:v>
                </c:pt>
                <c:pt idx="1">
                  <c:v>291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5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5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3F1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D3F1E"/>
                </a:solidFill>
                <a:latin typeface="Arial"/>
              </a:rPr>
              <a:t>Images per Class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430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Apple Scab</c:v>
                  </c:pt>
                  <c:pt idx="1">
                    <c:v>Black Rot</c:v>
                  </c:pt>
                  <c:pt idx="2">
                    <c:v>Cedar Apple Rust</c:v>
                  </c:pt>
                  <c:pt idx="3">
                    <c:v>Healthy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165</c:v>
                </c:pt>
                <c:pt idx="1">
                  <c:v>110</c:v>
                </c:pt>
                <c:pt idx="2">
                  <c:v>300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430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Apple Scab</c:v>
                  </c:pt>
                  <c:pt idx="1">
                    <c:v>Black Rot</c:v>
                  </c:pt>
                  <c:pt idx="2">
                    <c:v>Cedar Apple Rust</c:v>
                  </c:pt>
                  <c:pt idx="3">
                    <c:v>Healthy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65</c:v>
                </c:pt>
                <c:pt idx="1">
                  <c:v>43</c:v>
                </c:pt>
                <c:pt idx="2">
                  <c:v>118</c:v>
                </c:pt>
                <c:pt idx="3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430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5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5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3F1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D3F1E"/>
                </a:solidFill>
                <a:latin typeface="Arial"/>
              </a:rPr>
              <a:t>Accuracy over 10 Epochs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Accuracy</c:v>
                </c:pt>
              </c:strCache>
            </c:strRef>
          </c:tx>
          <c:spPr>
            <a:solidFill>
              <a:srgbClr val="B3452C"/>
            </a:solidFill>
            <a:ln w="31750" cap="flat">
              <a:solidFill>
                <a:srgbClr val="B345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B3452C"/>
              </a:solidFill>
              <a:ln w="9525" cap="flat">
                <a:solidFill>
                  <a:srgbClr val="B345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0.265</c:v>
                </c:pt>
                <c:pt idx="1">
                  <c:v>0.4</c:v>
                </c:pt>
                <c:pt idx="2">
                  <c:v>0.51</c:v>
                </c:pt>
                <c:pt idx="3">
                  <c:v>0.54</c:v>
                </c:pt>
                <c:pt idx="4">
                  <c:v>0.62</c:v>
                </c:pt>
                <c:pt idx="5">
                  <c:v>0.735</c:v>
                </c:pt>
                <c:pt idx="6">
                  <c:v>0.76</c:v>
                </c:pt>
                <c:pt idx="7">
                  <c:v>0.775</c:v>
                </c:pt>
                <c:pt idx="8">
                  <c:v>0.82</c:v>
                </c:pt>
                <c:pt idx="9">
                  <c:v>0.852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solidFill>
              <a:srgbClr val="2C5F2D"/>
            </a:solidFill>
            <a:ln w="31750" cap="flat">
              <a:solidFill>
                <a:srgbClr val="2C5F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0.548</c:v>
                </c:pt>
                <c:pt idx="1">
                  <c:v>0.685</c:v>
                </c:pt>
                <c:pt idx="2">
                  <c:v>0.615</c:v>
                </c:pt>
                <c:pt idx="3">
                  <c:v>0.695</c:v>
                </c:pt>
                <c:pt idx="4">
                  <c:v>0.685</c:v>
                </c:pt>
                <c:pt idx="5">
                  <c:v>0.875</c:v>
                </c:pt>
                <c:pt idx="6">
                  <c:v>0.8</c:v>
                </c:pt>
                <c:pt idx="7">
                  <c:v>0.881</c:v>
                </c:pt>
                <c:pt idx="8">
                  <c:v>0.85</c:v>
                </c:pt>
                <c:pt idx="9">
                  <c:v>0.7973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5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Accuracy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5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D3F1E"/>
                </a:solidFill>
                <a:latin typeface="Arial"/>
              </a:defRPr>
            </a:pPr>
            <a:r>
              <a:rPr sz="1250" b="0" i="0" u="none" strike="noStrike">
                <a:solidFill>
                  <a:srgbClr val="1D3F1E"/>
                </a:solidFill>
                <a:latin typeface="Arial"/>
              </a:rPr>
              <a:t>Classification Report (Validation, n = 291)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Apple Scab</c:v>
                  </c:pt>
                  <c:pt idx="1">
                    <c:v>Black Rot</c:v>
                  </c:pt>
                  <c:pt idx="2">
                    <c:v>Cedar Rust</c:v>
                  </c:pt>
                  <c:pt idx="3">
                    <c:v>Healthy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0.69</c:v>
                </c:pt>
                <c:pt idx="1">
                  <c:v>0.86</c:v>
                </c:pt>
                <c:pt idx="2">
                  <c:v>1</c:v>
                </c:pt>
                <c:pt idx="3">
                  <c:v>0.68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Apple Scab</c:v>
                  </c:pt>
                  <c:pt idx="1">
                    <c:v>Black Rot</c:v>
                  </c:pt>
                  <c:pt idx="2">
                    <c:v>Cedar Rust</c:v>
                  </c:pt>
                  <c:pt idx="3">
                    <c:v>Healthy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0.83</c:v>
                </c:pt>
                <c:pt idx="1">
                  <c:v>0.74</c:v>
                </c:pt>
                <c:pt idx="2">
                  <c:v>0.69</c:v>
                </c:pt>
                <c:pt idx="3">
                  <c:v>0.98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C79A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Apple Scab</c:v>
                  </c:pt>
                  <c:pt idx="1">
                    <c:v>Black Rot</c:v>
                  </c:pt>
                  <c:pt idx="2">
                    <c:v>Cedar Rust</c:v>
                  </c:pt>
                  <c:pt idx="3">
                    <c:v>Healthy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0.76</c:v>
                </c:pt>
                <c:pt idx="1">
                  <c:v>0.8</c:v>
                </c:pt>
                <c:pt idx="2">
                  <c:v>0.82</c:v>
                </c:pt>
                <c:pt idx="3">
                  <c:v>0.81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5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5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 AND PATTERN RECOGNITION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Leaf Disease Detection 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CNN-based decision-support tool for automated apple orchard health management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292608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 Ghole Tamang  [CRN: 023-326]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 — Nepal Engineering College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the Department of Computer Engineering  |  Course: Image Processing and Pattern Recognition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6035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Manual Inspection to Automated Diagnosis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importance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993392"/>
            <a:ext cx="5257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Apples are among the world's most widely cultivated fruit crops, supporting rural livelihoods and farm economies.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743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 threat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044952"/>
            <a:ext cx="5257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 diseases — Apple Scab, Black Rot, Cedar Apple Rust — spread quickly and cause premature leaf drop and yield loss.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794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bottleneck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096512"/>
            <a:ext cx="5257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visual inspection is slow, subjective, and inaccessible to many smallholder farmers.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846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solution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5148072"/>
            <a:ext cx="5257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system combining classical image processing with a deep CNN classifier, deployed as an interactive Streamlit web app.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1691640"/>
            <a:ext cx="4572000" cy="4297680"/>
          </a:xfrm>
          <a:prstGeom prst="roundRect">
            <a:avLst>
              <a:gd name="adj" fmla="val 2553"/>
            </a:avLst>
          </a:prstGeom>
          <a:solidFill>
            <a:srgbClr val="F5F5F0"/>
          </a:solidFill>
          <a:ln w="12700">
            <a:solidFill>
              <a:srgbClr val="E1E6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1920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AT A GLANCE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0920" y="242316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242316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Leaf Image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052560" y="2971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</a:rPr>
              <a:t>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60920" y="3182112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3182112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Preprocess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052560" y="37307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</a:rPr>
              <a:t>▼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60920" y="3941064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394106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Classification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052560" y="448970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</a:rPr>
              <a:t>▼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60920" y="4700016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4700016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Check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052560" y="524865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</a:rPr>
              <a:t>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60920" y="545896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43800" y="545896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+ Treatment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Leaf Disease Detection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92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6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5760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diagnosis of apple leaf diseases is time-consuming, inconsistent, and inaccessible to many farmers who lack easy access to agricultural experts. Delayed identification often results in worsening infection and greater yield loss.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3840480"/>
            <a:ext cx="5760720" cy="0"/>
          </a:xfrm>
          <a:prstGeom prst="line">
            <a:avLst/>
          </a:prstGeom>
          <a:noFill/>
          <a:ln w="12700">
            <a:solidFill>
              <a:srgbClr val="E1E6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23360"/>
            <a:ext cx="5760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need for an automated, fast, and reasonably accurate tool that can analyse a leaf image, classify the disease, and support timely treatment decisions.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06640" y="182880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193852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326880" y="1938528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 diseases targeted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06640" y="329184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340156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949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9326880" y="3401568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leaf images used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06640" y="475488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486460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79.7%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326880" y="4864608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F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achieved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Leaf Disease Detection 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5F5F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08483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CNN classifier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of classifying apple leaf images into Apple Scab, Black Rot, Cedar Apple Rust, or Healthy.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82880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5F5F0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210312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208483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 images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217920" y="274320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image preprocessing — colour-space conversion, resizing, edge and blur detection — before classification.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5F5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8912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437083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rigorously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502920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trained model using accuracy, precision, recall, and F1-score.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411480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5F5F0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438912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437083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usable interface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217920" y="502920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web app where users upload an image and view disease, confidence, and treatment.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Leaf Disease Detection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231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42316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apple-leaf classes: Apple Scab, Black Rot, Cedar Apple Rust, Healthy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29184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Offline-augmented subset of a public plant-disease dataset (658 train / 291 validation)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41605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image validation, CNN classification, confidence thresholding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029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502920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interface for demonstration purposes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1828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/ CONSTRAINTS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19456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5875">
            <a:solidFill>
              <a:srgbClr val="B345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4231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24231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plant species or disease types are not covered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0" y="34747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3474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bounded by the quality and diversity of the training dataset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45262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45262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decision-support tool only — not a replacement for expert diagnosis in critical cases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Leaf Disease Detection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Offline-augmented recreation of the “New Plant Diseases Dataset” (Kaggle), restricted to four apple leaf classes. All images resized to 128×128 RGB.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651760"/>
          <a:ext cx="2834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657600" y="2651760"/>
          <a:ext cx="4114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092440" y="173736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5F5F0"/>
          </a:solidFill>
          <a:ln w="12700">
            <a:solidFill>
              <a:srgbClr val="E1E6D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32104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DISTRIBUTION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2331720"/>
          <a:ext cx="3108960" cy="2651760"/>
        </p:xfrm>
        <a:graphic>
          <a:graphicData uri="http://schemas.openxmlformats.org/drawingml/2006/table">
            <a:tbl>
              <a:tblPr/>
              <a:tblGrid>
                <a:gridCol w="1036320"/>
                <a:gridCol w="1036320"/>
                <a:gridCol w="1036320"/>
              </a:tblGrid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Scab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Rot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Cedar Apple Rust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Leaf Disease Detection System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Processing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762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4871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 — Home / About / Predict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3E7A4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108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Engine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41985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OpenCV, NumPy, PIL — validate &amp; preprocess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968496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5D9A5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0416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35254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TensorFlow/Keras CNN (.keras)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901184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97433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Display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2852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Diagnosis, confidence, treatment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FLOWCHART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2103120"/>
            <a:ext cx="53035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1031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Apple Leaf Image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32520" y="261518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2825496"/>
            <a:ext cx="53035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82549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(leaf / colour / sharpness)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732520" y="33375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3547872"/>
            <a:ext cx="53035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54787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(resize 128×128, array)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732520" y="405993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4270248"/>
            <a:ext cx="53035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427024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Inference (feature extraction)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732520" y="478231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9360" y="4992624"/>
            <a:ext cx="53035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499262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Confidence Threshold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732520" y="550468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</a:rPr>
              <a:t>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5715000"/>
            <a:ext cx="5303520" cy="54864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5715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 (disease, confidence, treatment)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Leaf Disease Detection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Architecture &amp; Processing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15468" y="2148840"/>
            <a:ext cx="1170432" cy="1371600"/>
          </a:xfrm>
          <a:prstGeom prst="roundRect">
            <a:avLst>
              <a:gd name="adj" fmla="val 6250"/>
            </a:avLst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315468" y="228600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15468" y="2926080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A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85900" y="260604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54"/>
                </a:solidFill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13916" y="2148840"/>
            <a:ext cx="1170432" cy="1371600"/>
          </a:xfrm>
          <a:prstGeom prst="roundRect">
            <a:avLst>
              <a:gd name="adj" fmla="val 6250"/>
            </a:avLst>
          </a:prstGeom>
          <a:solidFill>
            <a:srgbClr val="5D9A52"/>
          </a:solidFill>
          <a:ln/>
        </p:spPr>
      </p:sp>
      <p:sp>
        <p:nvSpPr>
          <p:cNvPr id="9" name="Text 7"/>
          <p:cNvSpPr/>
          <p:nvPr/>
        </p:nvSpPr>
        <p:spPr>
          <a:xfrm>
            <a:off x="1613916" y="228600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13916" y="2926080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84348" y="260604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54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12364" y="2148840"/>
            <a:ext cx="1170432" cy="1371600"/>
          </a:xfrm>
          <a:prstGeom prst="roundRect">
            <a:avLst>
              <a:gd name="adj" fmla="val 6250"/>
            </a:avLst>
          </a:prstGeom>
          <a:solidFill>
            <a:srgbClr val="3E7A40"/>
          </a:solidFill>
          <a:ln/>
        </p:spPr>
      </p:sp>
      <p:sp>
        <p:nvSpPr>
          <p:cNvPr id="13" name="Text 11"/>
          <p:cNvSpPr/>
          <p:nvPr/>
        </p:nvSpPr>
        <p:spPr>
          <a:xfrm>
            <a:off x="2912364" y="228600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12364" y="2926080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82796" y="260604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54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10812" y="2148840"/>
            <a:ext cx="1170432" cy="1371600"/>
          </a:xfrm>
          <a:prstGeom prst="roundRect">
            <a:avLst>
              <a:gd name="adj" fmla="val 6250"/>
            </a:avLst>
          </a:prstGeom>
          <a:solidFill>
            <a:srgbClr val="5D9A52"/>
          </a:solidFill>
          <a:ln/>
        </p:spPr>
      </p:sp>
      <p:sp>
        <p:nvSpPr>
          <p:cNvPr id="17" name="Text 15"/>
          <p:cNvSpPr/>
          <p:nvPr/>
        </p:nvSpPr>
        <p:spPr>
          <a:xfrm>
            <a:off x="4210812" y="228600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10812" y="2926080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filters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81244" y="260604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54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09260" y="2148840"/>
            <a:ext cx="1170432" cy="1371600"/>
          </a:xfrm>
          <a:prstGeom prst="roundRect">
            <a:avLst>
              <a:gd name="adj" fmla="val 6250"/>
            </a:avLst>
          </a:prstGeom>
          <a:solidFill>
            <a:srgbClr val="3E7A40"/>
          </a:solidFill>
          <a:ln/>
        </p:spPr>
      </p:sp>
      <p:sp>
        <p:nvSpPr>
          <p:cNvPr id="21" name="Text 19"/>
          <p:cNvSpPr/>
          <p:nvPr/>
        </p:nvSpPr>
        <p:spPr>
          <a:xfrm>
            <a:off x="5509260" y="228600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09260" y="2926080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filters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9692" y="260604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54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07708" y="2148840"/>
            <a:ext cx="1170432" cy="1371600"/>
          </a:xfrm>
          <a:prstGeom prst="roundRect">
            <a:avLst>
              <a:gd name="adj" fmla="val 6250"/>
            </a:avLst>
          </a:prstGeom>
          <a:solidFill>
            <a:srgbClr val="5D9A52"/>
          </a:solidFill>
          <a:ln/>
        </p:spPr>
      </p:sp>
      <p:sp>
        <p:nvSpPr>
          <p:cNvPr id="25" name="Text 23"/>
          <p:cNvSpPr/>
          <p:nvPr/>
        </p:nvSpPr>
        <p:spPr>
          <a:xfrm>
            <a:off x="6807708" y="228600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07708" y="2926080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filters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78140" y="260604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54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06156" y="2148840"/>
            <a:ext cx="1170432" cy="1371600"/>
          </a:xfrm>
          <a:prstGeom prst="roundRect">
            <a:avLst>
              <a:gd name="adj" fmla="val 6250"/>
            </a:avLst>
          </a:prstGeom>
          <a:solidFill>
            <a:srgbClr val="3E7A40"/>
          </a:solidFill>
          <a:ln/>
        </p:spPr>
      </p:sp>
      <p:sp>
        <p:nvSpPr>
          <p:cNvPr id="29" name="Text 27"/>
          <p:cNvSpPr/>
          <p:nvPr/>
        </p:nvSpPr>
        <p:spPr>
          <a:xfrm>
            <a:off x="8106156" y="228600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106156" y="2926080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276588" y="260604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54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404604" y="2148840"/>
            <a:ext cx="1170432" cy="1371600"/>
          </a:xfrm>
          <a:prstGeom prst="roundRect">
            <a:avLst>
              <a:gd name="adj" fmla="val 6250"/>
            </a:avLst>
          </a:prstGeom>
          <a:solidFill>
            <a:srgbClr val="5D9A52"/>
          </a:solidFill>
          <a:ln/>
        </p:spPr>
      </p:sp>
      <p:sp>
        <p:nvSpPr>
          <p:cNvPr id="33" name="Text 31"/>
          <p:cNvSpPr/>
          <p:nvPr/>
        </p:nvSpPr>
        <p:spPr>
          <a:xfrm>
            <a:off x="9404604" y="228600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404604" y="2926080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1500, ReLU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575036" y="260604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54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703052" y="2148840"/>
            <a:ext cx="1170432" cy="1371600"/>
          </a:xfrm>
          <a:prstGeom prst="roundRect">
            <a:avLst>
              <a:gd name="adj" fmla="val 6250"/>
            </a:avLst>
          </a:prstGeom>
          <a:solidFill>
            <a:srgbClr val="2C5F2D"/>
          </a:solidFill>
          <a:ln/>
        </p:spPr>
      </p:sp>
      <p:sp>
        <p:nvSpPr>
          <p:cNvPr id="37" name="Text 35"/>
          <p:cNvSpPr/>
          <p:nvPr/>
        </p:nvSpPr>
        <p:spPr>
          <a:xfrm>
            <a:off x="10703052" y="228600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703052" y="2926080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Softmax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" y="3794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convolutional blocks (32→512 filters) extract hierarchical features — from edges to leaf morphology — followed by dense layers and a 4-class softmax classifier.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53796" y="452628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5F5F0"/>
          </a:solidFill>
          <a:ln w="12700">
            <a:solidFill>
              <a:srgbClr val="E1E6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6676" y="4663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6676" y="50292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(lr = 0.0001)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3442716" y="452628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5F5F0"/>
          </a:solidFill>
          <a:ln w="12700">
            <a:solidFill>
              <a:srgbClr val="E1E6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25596" y="4663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25596" y="50292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Crossentropy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6231636" y="452628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5F5F0"/>
          </a:solidFill>
          <a:ln w="12700">
            <a:solidFill>
              <a:srgbClr val="E1E6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14516" y="4663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RATES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14516" y="50292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(conv) / 0.4 (dense)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9020556" y="452628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5F5F0"/>
          </a:solidFill>
          <a:ln w="12700">
            <a:solidFill>
              <a:srgbClr val="E1E6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03436" y="4663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203436" y="50292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epochs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Leaf Disease Detection System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— Modules &amp;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Input: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file_uploader accepts JPG / JPEG / PNG on the Predict page.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16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77063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Validation: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checks: min size, HSV green-content, Canny edges, Laplacian blur, brightness variance.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529584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29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483864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128×128 and convert to NumPy array matching model input.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4281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242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19709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predict_with_confidence() runs inference and applies a confidence threshold.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956048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956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91032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Display: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cards: green (healthy), red (disease), orange (low-confidence).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6656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66560" y="214884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2240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03720" y="25146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326880" y="214884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64040" y="2240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FRAMEWORK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464040" y="25146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766560" y="310896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32004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03720" y="34747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326880" y="310896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64040" y="32004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464040" y="34747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OpenCV, Pillow, NumPy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766560" y="406908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41605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03720" y="44348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Matplotlib, Seaborn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326880" y="406908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64040" y="41605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464040" y="44348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Leaf Disease Detection System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vs Validation Accuracy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737360"/>
            <a:ext cx="4206240" cy="4297680"/>
          </a:xfrm>
          <a:prstGeom prst="roundRect">
            <a:avLst>
              <a:gd name="adj" fmla="val 2174"/>
            </a:avLst>
          </a:prstGeom>
          <a:solidFill>
            <a:srgbClr val="F5F5F0"/>
          </a:solidFill>
          <a:ln w="12700">
            <a:solidFill>
              <a:srgbClr val="E1E6D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1920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PERFORMANCE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8096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058400" y="2331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85.20%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80960" y="289864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0" y="28986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79.73%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80960" y="346557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058400" y="346557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0.4144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80960" y="403250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058400" y="403250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0.4877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80960" y="4645152"/>
            <a:ext cx="3749040" cy="0"/>
          </a:xfrm>
          <a:prstGeom prst="line">
            <a:avLst/>
          </a:prstGeom>
          <a:noFill/>
          <a:ln w="12700">
            <a:solidFill>
              <a:srgbClr val="D8DED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0" y="4828032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 alignment between training and validation curves indicates good generalization without significant overfitting.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Leaf Disease Detection System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Per-Class Performance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737360"/>
            <a:ext cx="4206240" cy="429768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1E6D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1920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680960" y="2386584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7909560" y="2258568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leaves achieve the highest recall (98%) — the model reliably confirms good health.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80960" y="3319272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7909560" y="3191256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Apple Rust has perfect precision (1.00) but the lowest recall (69%), often confused with Apple Scab.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80960" y="4251960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9"/>
          <p:cNvSpPr/>
          <p:nvPr/>
        </p:nvSpPr>
        <p:spPr>
          <a:xfrm>
            <a:off x="7909560" y="4123944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average: 0.84 precision, 0.80 recall, 0.80 F1-score across 291 validation images.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80960" y="5184648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1"/>
          <p:cNvSpPr/>
          <p:nvPr/>
        </p:nvSpPr>
        <p:spPr>
          <a:xfrm>
            <a:off x="7909560" y="50566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errors occur between visually similar early-stage lesions and between diseased vs. healthy leaves.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Leaf Disease Detection System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Testing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29184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  <a:gridCol w="4206240"/>
                <a:gridCol w="1097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TC-01: Valid healthy leaf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healthy leaf 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class: Healthy, confidence above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TC-02: Valid diseased leaf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diseased leaf 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disease class predicted with treatment info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TC-03: Non-leaf 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object / non-leaf photo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as “Invalid Image” by validation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TC-04: Blurry 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Out-of-focus leaf photo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as too blurry / low-confidence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TC-05: Very small 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smaller than 50×50 px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— image too small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5F5F0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functional test cases passed. </a:t>
            </a:r>
            <a:pPr indent="0" marL="0">
              <a:buNone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correctly handles valid inputs, rejects invalid/poor-quality images, and applies confidence-based decisions as designed.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Leaf Disease Detection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Conclusion, Limitations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251960"/>
          </a:xfrm>
          <a:prstGeom prst="roundRect">
            <a:avLst>
              <a:gd name="adj" fmla="val 2564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108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AF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model trained for 10 epochs reached 85.2% training and 79.7% validation accuracy, integrated into a full Streamlit app with validation, confidence thresholding, and treatment guidance.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66160" cy="4251960"/>
          </a:xfrm>
          <a:prstGeom prst="roundRect">
            <a:avLst>
              <a:gd name="adj" fmla="val 2564"/>
            </a:avLst>
          </a:prstGeom>
          <a:solidFill>
            <a:srgbClr val="F5F5F0"/>
          </a:solidFill>
          <a:ln w="15875">
            <a:solidFill>
              <a:srgbClr val="B345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965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3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2423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4231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 (949 images total) limits real-world generalization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331927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331927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Apple Rust recall is lower, causing occasional misclassification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4215384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4215384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(30%) is inconsistently displayed as 70% in the UI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511149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5111496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leaf validation may mishandle edge-case images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783080"/>
            <a:ext cx="3566160" cy="4251960"/>
          </a:xfrm>
          <a:prstGeom prst="roundRect">
            <a:avLst>
              <a:gd name="adj" fmla="val 2564"/>
            </a:avLst>
          </a:prstGeom>
          <a:solidFill>
            <a:srgbClr val="F5F5F0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965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75320" y="24231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49640" y="24231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dataset &amp; apply stronger data augmentation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317296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49640" y="3172968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transfer learning for higher accuracy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75320" y="392277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49640" y="3922776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multiple crops and diseases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75320" y="467258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49640" y="4672584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lightweight mobile app for field use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5320" y="542239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49640" y="5422392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rule-based validation with a learned approach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Leaf Disease Detection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D3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4572000" cy="4572000"/>
          </a:xfrm>
          <a:prstGeom prst="ellipse">
            <a:avLst/>
          </a:prstGeom>
          <a:solidFill>
            <a:srgbClr val="97BC62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97196" y="4297680"/>
            <a:ext cx="219456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5262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 Ghole Tamang  |  CRN: 023-326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Engineering, Nepal Engineering College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54864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B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github.com/ishagt/Apple_leaf_Disease_Detection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2026-08-10T11:51:16Z</dcterms:created>
  <dcterms:modified xsi:type="dcterms:W3CDTF">2026-08-10T11:51:16Z</dcterms:modified>
</cp:coreProperties>
</file>